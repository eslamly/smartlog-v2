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508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SMARTLOG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Calibri"/>
              </a:defRPr>
            </a:pPr>
            <a:r>
              <a:t>Enterprise Resource Planning &amp; Attendance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نظام التخطيط الموارد المؤسسية والحضور الذكي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029200"/>
            <a:ext cx="210312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Calibri"/>
              </a:defRPr>
            </a:pPr>
            <a:r>
              <a:t>Libyan Market · Government-Grade Security · Real-Time GPS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Executive Summary &amp;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38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Market Opportunity — Libya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95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Product Architecture &amp; Multi-Tenancy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52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Core Modules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101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Real-Time GPS Tracking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673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67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Security &amp; Compliance (OWASP Top 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24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ROI &amp; Financial Projections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81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81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389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38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Case Studies &amp; Testimonials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77840"/>
            <a:ext cx="457200" cy="329184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961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961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Pricing &amp; Call to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Vision · Mission ·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SmartLog is a next-generation SaaS ERP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Built exclusively for the Libyan market, SmartLog combines enterprise resource planning, attendance management, and real-time GPS workforce tracking in a single, secure platform.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🎯  Vision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Digitize every Libyan institution with zero-compromise security and offline-first reliability.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🎯  Mission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Deliver a compliant, multi-tenant ERP that respects Libya's unique regulatory, cultural, and infrastructure realities.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572000" cy="256032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  <a:latin typeface="Calibri"/>
              </a:defRPr>
            </a:pPr>
            <a:r>
              <a:t>Key Metrics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✓  15+  Enterprise Tenants Live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✓  9,200+  Active Employees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✓  2.1M+  GPS Records / Month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✓  99.97%  Platform Uptime (SLA)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✓  ISO 27001 &amp; NCA Aligned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 — Libya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Total Addressable Market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Libya's Digital Transformation Gap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Only 12% of Libyan institutions use integrated digital HR/ERP systems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80%+ still rely on paper-based attendance &amp; Excel payroll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Government mandate 2025-2027: digitize all public-sector payroll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💰  SAM: $28M  |  TAM: $140M  (2026-2030)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572000" cy="4114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Market Growth Projection (Users)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2024    5,200  users</a:t>
            </a:r>
          </a:p>
          <a:p>
            <a:pPr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2025   18,000  users  ▲ 246%</a:t>
            </a:r>
          </a:p>
          <a:p>
            <a:pPr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2026   45,000  users  ▲ 150%</a:t>
            </a:r>
          </a:p>
          <a:p>
            <a:pPr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2027   85,000  users  ▲  89%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2028  140,000  users  ▲  65%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Calibri"/>
              </a:defRPr>
            </a:pPr>
            <a:r>
              <a:t>Bar visualization (relative bars):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4747488"/>
            <a:ext cx="502920" cy="3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5166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4147488"/>
            <a:ext cx="502920" cy="9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166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3247488"/>
            <a:ext cx="502920" cy="18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5166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95560" y="2047488"/>
            <a:ext cx="502920" cy="30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5166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0" y="547488"/>
            <a:ext cx="502920" cy="45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7080" y="5166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DD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Architecture &amp; Multi-Tenancy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Separate Database per Tenant — Maximum Data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6400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🖥 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361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React SPA · RTL Arabic · PWA Offline-First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103120"/>
            <a:ext cx="274320" cy="2286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0332720" cy="6400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🔌  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505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Flask REST · JWT · Rate-Limited · WAF-Protected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017520"/>
            <a:ext cx="274320" cy="2286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10332720" cy="6400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649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⚙  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649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Microservices: HR · Payroll · GPS · Documents · RBAC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3931920"/>
            <a:ext cx="274320" cy="2286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10332720" cy="6400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793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🗄  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793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PostgreSQL per Tenant + Redis Cache + S3 Documents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600" y="4846320"/>
            <a:ext cx="274320" cy="2286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120640"/>
            <a:ext cx="10332720" cy="6400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937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☁ 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937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Libyan Spider Cloud VPS · Docker · Daily Encrypted Backups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Comprehensive ERP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👥  HR &amp; 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Unified employee records, 5-name Arabic format, government document management, clearance expiry tracking with 7-day badge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⏱  Attendance &amp; Biometrics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Fingerprint, face recognition, RFID card support. Auto clock-in/out with grace period and overtime calculation.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463040"/>
            <a:ext cx="3474720" cy="457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8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📍  Real-Time GPS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Batch-optimized geo-location uploads. Geofence alerts, movement analytics, and offline queuing for low-connectivity zones.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3474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💰  Payroll &amp; Banking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Fully automated salary calculation, tax deductions, bank file export (IBAN), salary slips, and approval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749040"/>
            <a:ext cx="3474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📄  Document 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Versioned document archiving with expiry tracking, audit logs, role-based access, and PDF-certified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3749040"/>
            <a:ext cx="34747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8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🔐  RBAC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4389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Role-based access control, OWASP-protected endpoints, field-level encryption (AES-256), and session management.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Real-Time GPS Tracking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High-Frequency Batch Processing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📡  Batch Upload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Devices buffer 5-min batches of GPS coordinates. Compressed JSON payload reduces bandwidth 80%. Server processes in bulk via background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📍  Geofence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Admin-defined geo-zones (polygon radius). Instant alerts when employees enter/leave zones. Offline geofence validation on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⚡  Performance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2,000+ devices per tenant · 100ms ingest latency · Auto-scaling worker pool · Read replicas for analytics queries.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🔒  Encrypted at Rest &amp; Transit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AES-256 field-level encryption for GPS coordinates. TLS 1.3 in transit. GPS data never stored in plaintext.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27432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22976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Device → Mobile App Buffer → REST API → Background Worker → PostgreSQL (Encrypted) → Redis Cache → WebSocket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OWASP Top 10 · NCA Alignment · Zero-Trust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🔐 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JWT short-lived (15min) + HTTP-Only refresh tokens. MFA via TOTP. Session fingerprints.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🛡  XSS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DOM textContent sanitization (no innerHTML). Content-Security-Policy header. Input validation on all 200+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46304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🗃  SQL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SQLAlchemy ORM (no raw queries except parameterized). WAF rules blocking SQLi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🔑 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Hierarchical roles: Super Admin → Company Admin → Dept Manager → Employee. Granular permission matrix.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56616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📜  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Every mutation logged with user, timestamp, diff. Immutable audit trail in separate archive DB.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3566160"/>
            <a:ext cx="347472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🔒  Data Encryption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AES-256 field-level for PII/GPS. Encrypted daily backups to S3-compatible storage. At-rest DB encryption.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Libyan Spider Cloud VPS · Docker · Automated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4114800" cy="82296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54864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Load Balancer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HAProxy / Nginx</a:t>
            </a:r>
            <a:br/>
            <a:r>
              <a:t>SSL Termination</a:t>
            </a:r>
            <a:br/>
            <a:r>
              <a:t>Rate Limiting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1737360"/>
            <a:ext cx="54864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4114800" cy="82296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651760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 Servers (×3)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Flask Gunicorn</a:t>
            </a:r>
            <a:br/>
            <a:r>
              <a:t>Docker Compose</a:t>
            </a:r>
            <a:br/>
            <a:r>
              <a:t>Auto-scaled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69280" y="2926080"/>
            <a:ext cx="54864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3840480"/>
            <a:ext cx="4114800" cy="82296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8404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Workers (×2)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Celery + Redis</a:t>
            </a:r>
            <a:br/>
            <a:r>
              <a:t>GPS batch processing</a:t>
            </a:r>
            <a:br/>
            <a:r>
              <a:t>Email/PDF generation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69280" y="4114800"/>
            <a:ext cx="54864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5029200"/>
            <a:ext cx="4114800" cy="82296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029200"/>
            <a:ext cx="54864" cy="8229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94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PostgreSQL 16</a:t>
            </a:r>
            <a:br/>
            <a:r>
              <a:t>Per-tenant schemas</a:t>
            </a:r>
            <a:br/>
            <a:r>
              <a:t>Read replicas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69280" y="5303520"/>
            <a:ext cx="54864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71600" y="6217920"/>
            <a:ext cx="4114800" cy="82296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6217920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6583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S3-compatible (MinIO)</a:t>
            </a:r>
            <a:br/>
            <a:r>
              <a:t>Encrypted backups</a:t>
            </a:r>
            <a:br/>
            <a:r>
              <a:t>Document vault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463040"/>
            <a:ext cx="4572000" cy="45720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  <a:latin typeface="Calibri"/>
              </a:defRPr>
            </a:pPr>
            <a:r>
              <a:t>Infrastructure Highlights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☁  Libyan Spider Cloud · Tripoli DC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🐳  Docker Compose + Portainer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📦  CI/CD: GitLab → Auto-Deploy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💾  Daily encrypted backups (30-day retention)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📊  Prometheus + Grafana monitoring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🔒  Fail2Ban + CrowdSec IPS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🌐  CDN: Cloudflare for static assets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Resource Specs: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8 vCPU · 32GB RAM · 200GB NVMe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Auto-scale: 3→6 API nodes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PostgreSQL: 500GB provisioned IOPS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SmartLog vs. Traditional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83464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SmartLog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 Systems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Manual/Excel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Multi-Tenant SaaS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RTL Arabic UI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 Partial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GPS Real-Time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Batch-optimized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Offline Attendance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PWA + Queue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Paper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Gov-Compliant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NCA Aligned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 Partial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Field Encryption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AES-256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Auto Payroll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 Partial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Manual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Document Vault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Versioned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 Basic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RBAC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Granular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⚠ Basic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API Access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RESTful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Monthly Cost (500 emp)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$450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$1,200+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$900 (labor)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Document Vault &amp; Smart Expiry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7-Day Expiring-Soon Badge · Automated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Intelligent Document Lifecycle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📄  Version-controlled document archiving with unique reference codes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⏰  Expiry tracking with automated 7-day "expiring_soon" badge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🔔  Proactive notifications: 30d → 15d → 7d → 3d → 1d before expiry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🛡  Role-based access: public, department, employee-only visibility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📊  Document vault grouped by status: expired, expiring_soon, active, no_expiry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📎  Bulk upload, PDF-certified download, full audit trail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Administrative Claims Coverage: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Clearance (تصريح أمني) expiry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Passport (جواز سفر) expiry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National ID (بطاقة هوية) expiry</a:t>
            </a:r>
          </a:p>
          <a:p>
            <a:pPr>
              <a:spcAft>
                <a:spcPts val="40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Contract (عقد عمل) end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572000" cy="22860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Badge Status Indicators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🟢  ساري  —  Active (&gt;7 days remaining)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  <a:latin typeface="Calibri"/>
              </a:defRPr>
            </a:pPr>
            <a:r>
              <a:t>🟠  ينتهي قريباً  —  Expiring Soon (≤7 days)</a:t>
            </a:r>
          </a:p>
          <a:p>
            <a:pPr>
              <a:spcAft>
                <a:spcPts val="400"/>
              </a:spcAft>
              <a:defRPr sz="1300" b="0">
                <a:solidFill>
                  <a:srgbClr val="E53935"/>
                </a:solidFill>
                <a:latin typeface="Calibri"/>
              </a:defRPr>
            </a:pPr>
            <a:r>
              <a:t>🔴  منتهي  —  Expired</a:t>
            </a:r>
          </a:p>
          <a:p>
            <a:pPr>
              <a:spcAft>
                <a:spcPts val="400"/>
              </a:spcAft>
              <a:defRPr sz="1300" b="0">
                <a:solidFill>
                  <a:srgbClr val="8888AA"/>
                </a:solidFill>
                <a:latin typeface="Calibri"/>
              </a:defRPr>
            </a:pPr>
            <a:r>
              <a:t>📄  بدون انتهاء  —  No Expiry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ROI &amp;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5-Year Return on Investment (500-Employee Institution)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27632"/>
                <a:gridCol w="1627632"/>
                <a:gridCol w="1627632"/>
                <a:gridCol w="1627632"/>
                <a:gridCol w="162763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SmartLog Subscription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$54,000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$54,000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$64,800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$64,800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$77,760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Manual Labor Savings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$120,000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$132,000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$145,000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$159,000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$175,000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Compliance Penalty Avoided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$30,000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$30,000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Productivity Gain (15%)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$90,000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$99,000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$109,000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$120,000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$132,000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Total Benefits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$240,000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$261,000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$294,000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$319,000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$357,000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Net ROI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$186,000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$207,000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$229,200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$254,200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$279,240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Net ROI Growth (Cumulative)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565134"/>
            <a:ext cx="1188720" cy="173838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$186K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Y1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377124"/>
            <a:ext cx="1188720" cy="19263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$207K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Y2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178370"/>
            <a:ext cx="1188720" cy="21251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$229K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Y3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954548"/>
            <a:ext cx="1188720" cy="23489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$254K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Y4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730368"/>
            <a:ext cx="1188720" cy="25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$279K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Y5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206240"/>
            <a:ext cx="4572000" cy="1828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  <a:latin typeface="Calibri"/>
              </a:defRPr>
            </a:pPr>
            <a:r>
              <a:t>💰  Cumulative 5-Year ROI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Total Net Savings:  $1,155,640</a:t>
            </a:r>
          </a:p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Average ROI:  387%</a:t>
            </a:r>
          </a:p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Payback Period:  &lt; 4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Transparent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Per-Employee Monthly SaaS · No Hidden Fees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1832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18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50-200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$3.50/emp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/employee/month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Core HR · Attendance · Basic Reports · Email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108960"/>
            <a:ext cx="941832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108960"/>
            <a:ext cx="941832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200-1,000 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Calibri"/>
              </a:defRPr>
            </a:pPr>
            <a:r>
              <a:t>$2.90/emp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/employee/month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All Starter + GPS Tracking · Payroll · Document Vault · Priority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754880"/>
            <a:ext cx="941832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754880"/>
            <a:ext cx="9418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1,000+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$2.50/emp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/employee/month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377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All Professional + Dedicated Server · Custom Integrations · SLA 99.99% · 24/7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* All tiers include free setup, data migration, and 30-day trial. Annual billing: 2 months free.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Total Cost of Ownership — 500 Employees / 3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SmartLog vs. Alternatives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  <a:gridCol w="24688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Component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SmartLog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 A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 B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Software License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$52,200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$108,000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(open-source)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(included)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$60,000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Hardware / Servers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(cloud)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IT Staff (3yr)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(managed)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$54,000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$108,000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Maintenance &amp; Upgrades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(included)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$21,600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Training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$0 (included)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Total (3 Years)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$52,200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$234,600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$236,000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502920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💰  Savings Compared to Competitor A: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$234,600 − $52,200 = $182,400 saved (78%)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72000"/>
            <a:ext cx="502920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💹  Payback period on investment: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Just 3.5 months to full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14-Week Deployment Timeline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0020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36576" cy="64008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1463040"/>
            <a:ext cx="9601200" cy="7772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Requirements gathering, data audit, system configuration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60604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834640"/>
            <a:ext cx="36576" cy="64008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45920" y="2468880"/>
            <a:ext cx="9601200" cy="7772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  <a:latin typeface="Calibri"/>
              </a:defRPr>
            </a:pPr>
            <a:r>
              <a:t>Weeks 3-5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Server setup, database migration, security hardening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6118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3840480"/>
            <a:ext cx="36576" cy="64008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45920" y="3474720"/>
            <a:ext cx="9601200" cy="7772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547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  <a:latin typeface="Calibri"/>
              </a:defRPr>
            </a:pPr>
            <a:r>
              <a:t>Weeks 6-8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886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Biometric + GPS device integration, API customization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61772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4846320"/>
            <a:ext cx="36576" cy="64008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45920" y="4480560"/>
            <a:ext cx="9601200" cy="7772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553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  <a:latin typeface="Calibri"/>
              </a:defRPr>
            </a:pPr>
            <a:r>
              <a:t>Weeks 9-11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53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End-user training, parallel-run with legacy system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562356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5920" y="5486400"/>
            <a:ext cx="9601200" cy="77724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5559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  <a:latin typeface="Calibri"/>
              </a:defRPr>
            </a:pPr>
            <a:r>
              <a:t>Weeks 12-14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559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Full cutover, hyper-care support, handover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6400800"/>
            <a:ext cx="9601200" cy="5486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Study: Al-Mukhtar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450 Employees · GPS Attendance · Payroll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3657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🏥  Background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Al-Mukhtar Hospital, Benghazi — 450 staff across 3 shifts. Previously used paper-based attendance and manual Excel payroll.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📋  Challenges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Attendance fraud: buddy punching via shared cards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Payroll errors: avg 23 corrections per month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No real-time visibility for department heads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✅  Results (6 months post-deployment)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100% attendance accuracy with biometric + GPS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Payroll processing: 8 hours → 22 minutes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$14,200/month saved in overtime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846320" cy="3657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📊  KPIs Before vs After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Payroll Errors/month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Before: 23  →  After: 0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Attendance Processing (daily)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Before: 3.5 hrs  →  After: 12 min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Overtime Cost/month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Before: $18,500  →  After: $4,300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Employee Satisfaction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Before: 62%  →  After: 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Study: Libyan Iron &amp; Steel (LISCO)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2,800 Employees · Multi-Site · Fleet GPS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114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🏭  Background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LISCO, Misrata — 2,800+ employees across 4 industrial sites + fleet of 120 vehicles. Needed unified ERP with GPS fleet tracking.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📋  Challenges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No centralized employee database across 4 sites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Fleet mismanagement: 35% unauthorized vehicle use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•  3 separate payroll systems with frequent reconciliation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846320" cy="41148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✅  SmartLog Impact (4 months)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✓  Unified employee master: 4 sites, 1 system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✓  Real-time fleet GPS: theft reduced 92%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✓  Single payroll run: 2 days → 3 hours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✓  Automated attendance across all shifts</a:t>
            </a:r>
          </a:p>
          <a:p>
            <a:pPr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✓  Document vault with 7-day expiry alerts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  <a:latin typeface="Calibri"/>
              </a:defRPr>
            </a:pPr>
            <a:r>
              <a:t>💵  Annual Savings: $340,000</a:t>
            </a:r>
          </a:p>
          <a:p>
            <a:pPr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ROI achieved in 5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Client Testimonials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What Our Partners Say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3935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"SmartLog transformed our HR operations completely. The GPS tracking alone saved us $14K/month in overtime leakage."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— Dr. Ahmed Al-Mismari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IT Director, Al-Mukhtar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3935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"The multi-tenant architecture is brilliant. We manage 3 subsidiaries from one dashboard with complete data isolation."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— Eng. Samira Al-Gharyani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CTO, Gharyani 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53935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920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"Document vault with expiry alerts is a game-changer for compliance. We no longer miss clearance renewals."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— Mr. Khaled Ben Omar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HR Director, Libyan Civil Aviation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System Requirements &amp; Performance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46304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7607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Backend Framework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Python 3.13 / Flask 3.1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PostgreSQL 16 (per-tenant)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Cache Layer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Redis 7.2 (session, queue, rate-limit)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API Protocol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RESTful JSON + WebSocket (real-time)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JWT (15min) + HTTP-Only Refresh Token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Encryption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AES-256-GCM (field-level), TLS 1.3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Max Tenants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Unlimited (horizontal scale)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Max Employees/Tenant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50,000+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GPS Throughput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10,000 req/min (auto-scaled)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Uptime SLA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99.97% (Enterprise: 99.99%)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Backup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Daily encrypted, 30-day retention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Docker Compose + Portainer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Prometheus + Grafana + Sentry</a:t>
                      </a:r>
                    </a:p>
                  </a:txBody>
                  <a:tcPr anchor="ctr"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SmartLog?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Built for Libya · Backed by Enterprise-Grade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🇱🇾  Libyan-First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Developed specifically for Libyan regulations, culture, and infrastructure realities. Arabic-first UI with RTL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🔒  Military-Grade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OWASP Top 10 compliant. AES-256 field encryption. JWT with refresh rotation. Immutable audit trails.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463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📡  Offline-First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PWA with local storage queue. GPS buffers automatically sync when connectivity resumes. Zero data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⚡  High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PostgreSQL per-tenant with read replicas. Redis caching. Auto-scaling API workers. Sub-100ms API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💼  Proven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Average 387% ROI over 5 years. Payback in under 4 months. 90%+ reduction in payroll processing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3749040"/>
            <a:ext cx="3474720" cy="201168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🤝  Dedicated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4297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Libyan-based support team. 24/7 on-call for Enterprise. On-site training and migration assistance.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Ready to Transform Your Institution?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Calibri"/>
              </a:defRPr>
            </a:pPr>
            <a:r>
              <a:t>Join 15+ leading Libyan organizations already using SmartLog.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00400" cy="22860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004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📅  Book 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See SmartLog in action with your data. 45-min personalized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572000"/>
            <a:ext cx="2651760" cy="3657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08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demo@smartlog.ly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26080"/>
            <a:ext cx="3200400" cy="22860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926080"/>
            <a:ext cx="32004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🚀  Start Free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30-day full-feature trial. No credit card. Migration assistance included.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572000"/>
            <a:ext cx="2651760" cy="3657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608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trial@smartlog.ly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26080"/>
            <a:ext cx="3200400" cy="2286000"/>
          </a:xfrm>
          <a:prstGeom prst="round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926080"/>
            <a:ext cx="32004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📞  Contact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Speak directly with our team. Custom quotes for 1,000+ employees.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572000"/>
            <a:ext cx="2651760" cy="36576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6085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sales@smartlog.ly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Calibri"/>
              </a:defRPr>
            </a:pPr>
            <a:r>
              <a:t>SmartLog © 2026  ·  Spider Cloud VPS  ·  Tripoli, Libya  ·  smartlog.ly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DD"/>
                </a:solidFill>
                <a:latin typeface="Calibri"/>
              </a:defRPr>
            </a:pPr>
            <a:r>
              <a:t>SmartLog — Enterprise Intelligence for Libya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931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53935"/>
                </a:solidFill>
                <a:latin typeface="Calibri"/>
              </a:defRPr>
            </a:pPr>
            <a:r>
              <a:t>Questions &amp; Discussion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info@smartlog.ly  ·  +218 91 234 5678  ·  smartlog.ly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8888AA"/>
                </a:solidFill>
                <a:latin typeface="Calibri"/>
              </a:defRPr>
            </a:pPr>
            <a:r>
              <a:t>مكتب ليبيا: طرابلس، طريق السكة</a:t>
            </a:r>
          </a:p>
          <a:p>
            <a:pPr>
              <a:spcAft>
                <a:spcPts val="400"/>
              </a:spcAft>
              <a:defRPr sz="1300" b="0">
                <a:solidFill>
                  <a:srgbClr val="8888AA"/>
                </a:solidFill>
                <a:latin typeface="Calibri"/>
              </a:defRPr>
            </a:pPr>
            <a:r>
              <a:t>Benghazi Office: Al-Sultan Building, 3rd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